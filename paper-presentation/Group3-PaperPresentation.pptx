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7" r:id="rId1"/>
  </p:sldMasterIdLst>
  <p:notesMasterIdLst>
    <p:notesMasterId r:id="rId12"/>
  </p:notesMasterIdLst>
  <p:sldIdLst>
    <p:sldId id="258" r:id="rId2"/>
    <p:sldId id="259" r:id="rId3"/>
    <p:sldId id="262" r:id="rId4"/>
    <p:sldId id="260" r:id="rId5"/>
    <p:sldId id="263" r:id="rId6"/>
    <p:sldId id="264" r:id="rId7"/>
    <p:sldId id="265" r:id="rId8"/>
    <p:sldId id="266" r:id="rId9"/>
    <p:sldId id="268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Statement" id="{DA8A10DA-4BC6-0848-B6FC-AADFABC7F07E}">
          <p14:sldIdLst>
            <p14:sldId id="258"/>
          </p14:sldIdLst>
        </p14:section>
        <p14:section name="Deep Learning on Point Sets" id="{9FC8E22E-4918-A141-8596-A7032A9A61EC}">
          <p14:sldIdLst>
            <p14:sldId id="259"/>
            <p14:sldId id="262"/>
            <p14:sldId id="260"/>
            <p14:sldId id="263"/>
            <p14:sldId id="264"/>
            <p14:sldId id="265"/>
          </p14:sldIdLst>
        </p14:section>
        <p14:section name="Supplementary" id="{FCC97C83-FD46-8F4B-A8E6-7697DD4C8B1F}">
          <p14:sldIdLst>
            <p14:sldId id="266"/>
            <p14:sldId id="26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64"/>
    <p:restoredTop sz="83786"/>
  </p:normalViewPr>
  <p:slideViewPr>
    <p:cSldViewPr snapToGrid="0">
      <p:cViewPr varScale="1">
        <p:scale>
          <a:sx n="106" d="100"/>
          <a:sy n="106" d="100"/>
        </p:scale>
        <p:origin x="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C8BA2-B500-ED4C-8BDE-0391F8531DB7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33B61-3890-E24A-99B4-6D703C639A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14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533B61-3890-E24A-99B4-6D703C639A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03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S: input points</a:t>
            </a:r>
          </a:p>
          <a:p>
            <a:r>
              <a:rPr lang="en-US" dirty="0"/>
              <a:t>C_S: points selected by </a:t>
            </a:r>
            <a:r>
              <a:rPr lang="en-US" dirty="0" err="1"/>
              <a:t>maxpooling</a:t>
            </a:r>
            <a:endParaRPr lang="en-US" dirty="0"/>
          </a:p>
          <a:p>
            <a:r>
              <a:rPr lang="en-US" dirty="0"/>
              <a:t>N_S: Upper bound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533B61-3890-E24A-99B4-6D703C639A1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70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B9435-E829-6257-3C75-E10AF03E54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5B1AF-03D1-40CB-7BC6-0D82DA75C7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7AA91-E0EB-14A0-502E-C49518F1A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D7446-E351-E2FA-32EC-F866CA98E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C4488-B48E-BA7E-A1AE-025FA03C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34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83309-863C-2742-3E80-B20D05B63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FDC-C6B6-BA38-DCB2-0E7048408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D2CF9-E80F-9CD7-D362-8FBCBA59E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CC110-D651-E59C-AA4B-5F7A77A9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B4850-00DF-F241-8370-223438F5B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69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66DF3-3F40-4D18-393C-580C14142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EE74E1-7206-2209-0E93-B9E96AFB3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AFCA4-FFE5-6D23-7425-003FAF56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8C6AD-09E5-BA63-1DF6-76824809C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A69B1-B042-0991-F6C0-65B6FD28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502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1CA2D-692D-D57A-114C-1C89D10F4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EEB57-C20D-0204-7B09-AB2AD387B1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DDFBD-B9BD-D4E5-5667-3FCEDCFA5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6AA7DE-7AED-63DC-1606-3EBE9C36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323D3-E714-EB9D-CD0B-38A5005E6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305771-6980-2244-CF15-12C2DFE58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74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2D7C8-F78C-7E48-EEC5-389674669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BC69B7-5688-31E3-7C14-A62C7ED59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4A5D01-B491-895F-F29B-CBC3F9385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4DC0EC-28CC-5FEA-A26C-E74FA1769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6AC465-F679-23FD-3959-8C4D1FCBAD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185D92-38ED-CBD0-054D-82744F385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D1662-3BDE-9B40-004D-6E739CD2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516159-9570-5F56-2C5D-7AA45E63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090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22C81-235F-0ED5-342D-0F6C0DC13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0546EF-A5E5-A4B5-DE06-07481B4B3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12F423-40B4-97DF-EAF8-3BC422420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26847-70EE-B2A4-E201-EEEB0AAD4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032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B5CFEE-C534-51B6-5B16-2B54ECB5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EDD10-46CC-BBAE-0B57-040BC29B3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5051C-565A-152E-B4CF-F1E6EDE04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05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402EE-7289-993F-8053-966F855FD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10AD6-83E1-DADE-851F-40D00317B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8CE04-E0D9-54E0-CD1D-9AB0E4A4C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FA966C-96D6-77B8-39C1-DBD888793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24F1DD-C7D2-B3EF-723E-F7064B543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538FB-DE18-8195-8183-ED7C512A2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037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2A827-6DE3-42F0-7D65-8607E153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236C9F-C5C4-931E-FA37-1C9D9490A9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88E3A-30C1-9D55-3BC3-DAA9B4FF7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1E9C5-23D3-4B15-D87C-ECF3C261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55D8C-7298-DFC9-A4AD-5D4418CF3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267B1A-BD8E-DF34-E278-AA914265A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291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D970-7004-C98B-C2E7-4C4F0B8F6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9DD35E-848A-EE59-4A00-3CB030C6C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AF769-57A2-F3D5-AEA2-D6A4E5784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C44D2-3DBF-CF7A-F2CE-63428AF6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BE792-A43A-9874-7FA5-E95EA300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60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3B431D-0357-B572-901B-283CBE6941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A38F1-EB9C-DB72-564B-A65987679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9DDF2B-8F89-C5B3-3015-CA64243C9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BF7F-B3CC-DBBC-FA9F-E3AF43E80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681B8-BEC6-625E-CB28-93559C6EA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21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3D2060-1602-D309-7FC2-9A5B21FED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2560-D75D-1F16-A8D2-87FE6E399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63E43-BC05-8C8E-CA17-A4F63A3D9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699D9-C63E-ED28-27C6-E296B60A2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1AB12-C590-317B-840A-E7F5950D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30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A9BF-6D64-8053-9E20-1E240A164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170" y="219563"/>
            <a:ext cx="5611735" cy="623377"/>
          </a:xfrm>
        </p:spPr>
        <p:txBody>
          <a:bodyPr>
            <a:normAutofit/>
          </a:bodyPr>
          <a:lstStyle/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7250BD0-81E1-2A7B-8182-F5848F11B132}"/>
              </a:ext>
            </a:extLst>
          </p:cNvPr>
          <p:cNvSpPr/>
          <p:nvPr/>
        </p:nvSpPr>
        <p:spPr>
          <a:xfrm>
            <a:off x="870230" y="1253403"/>
            <a:ext cx="5611735" cy="1033167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Point cloud segmentation with PointNet">
            <a:extLst>
              <a:ext uri="{FF2B5EF4-FFF2-40B4-BE49-F238E27FC236}">
                <a16:creationId xmlns:a16="http://schemas.microsoft.com/office/drawing/2014/main" id="{3333A6DA-370D-06DD-0EE4-7F4D34E60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60785" y="219563"/>
            <a:ext cx="3081573" cy="306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B4F265-3408-E755-F9BC-21AA6CB69A0E}"/>
              </a:ext>
            </a:extLst>
          </p:cNvPr>
          <p:cNvSpPr txBox="1">
            <a:spLocks/>
          </p:cNvSpPr>
          <p:nvPr/>
        </p:nvSpPr>
        <p:spPr>
          <a:xfrm>
            <a:off x="3127464" y="1342713"/>
            <a:ext cx="1502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 Cloud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89C5871-07F2-0117-4C61-E0B132DFAE97}"/>
              </a:ext>
            </a:extLst>
          </p:cNvPr>
          <p:cNvSpPr/>
          <p:nvPr/>
        </p:nvSpPr>
        <p:spPr>
          <a:xfrm>
            <a:off x="2651421" y="3067579"/>
            <a:ext cx="1862763" cy="710573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PointNet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9D7F5DF-C73D-D743-B4D0-2312E2625E18}"/>
              </a:ext>
            </a:extLst>
          </p:cNvPr>
          <p:cNvSpPr/>
          <p:nvPr/>
        </p:nvSpPr>
        <p:spPr>
          <a:xfrm>
            <a:off x="870230" y="4530380"/>
            <a:ext cx="2544314" cy="1033167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(k x 1)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3089E93-411C-8EB1-8B2F-6990DA240579}"/>
              </a:ext>
            </a:extLst>
          </p:cNvPr>
          <p:cNvSpPr/>
          <p:nvPr/>
        </p:nvSpPr>
        <p:spPr>
          <a:xfrm>
            <a:off x="3937651" y="4533849"/>
            <a:ext cx="2544314" cy="1033167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 Segmentation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/Semantic Segmentation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 x m)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C870C2B-1F0F-F3B1-3425-D8F779C1D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627" y="3638834"/>
            <a:ext cx="4925275" cy="20259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003B5B6-7BF4-9453-02F2-8309F50C2E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160" y="1752645"/>
                <a:ext cx="5895874" cy="4654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|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 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 …,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003B5B6-7BF4-9453-02F2-8309F50C2E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160" y="1752645"/>
                <a:ext cx="5895874" cy="465469"/>
              </a:xfrm>
              <a:blipFill>
                <a:blip r:embed="rId4"/>
                <a:stretch>
                  <a:fillRect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own Arrow 2">
            <a:extLst>
              <a:ext uri="{FF2B5EF4-FFF2-40B4-BE49-F238E27FC236}">
                <a16:creationId xmlns:a16="http://schemas.microsoft.com/office/drawing/2014/main" id="{8CADCF48-9BE6-191E-4D08-AA56A36262CC}"/>
              </a:ext>
            </a:extLst>
          </p:cNvPr>
          <p:cNvSpPr/>
          <p:nvPr/>
        </p:nvSpPr>
        <p:spPr>
          <a:xfrm>
            <a:off x="3414544" y="2438400"/>
            <a:ext cx="316628" cy="441434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D16AEA5C-7E3C-8A23-AF70-02F9711F5FB2}"/>
              </a:ext>
            </a:extLst>
          </p:cNvPr>
          <p:cNvSpPr/>
          <p:nvPr/>
        </p:nvSpPr>
        <p:spPr>
          <a:xfrm>
            <a:off x="1984073" y="3933549"/>
            <a:ext cx="316628" cy="441434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BE83C536-FC5E-2197-B892-FE4283EFAC01}"/>
              </a:ext>
            </a:extLst>
          </p:cNvPr>
          <p:cNvSpPr/>
          <p:nvPr/>
        </p:nvSpPr>
        <p:spPr>
          <a:xfrm>
            <a:off x="5051494" y="3933549"/>
            <a:ext cx="316628" cy="441434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0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528D51-AD08-03FA-E135-C03AEFA73DAD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480339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52A9D9CE-5743-25C3-114E-8D9801665EB7}"/>
                  </a:ext>
                </a:extLst>
              </p:cNvPr>
              <p:cNvSpPr/>
              <p:nvPr/>
            </p:nvSpPr>
            <p:spPr>
              <a:xfrm>
                <a:off x="186170" y="1339900"/>
                <a:ext cx="3767993" cy="1057311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Unordered</a:t>
                </a:r>
              </a:p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!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Permutation)</a:t>
                </a:r>
              </a:p>
            </p:txBody>
          </p:sp>
        </mc:Choice>
        <mc:Fallback xmlns="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52A9D9CE-5743-25C3-114E-8D9801665E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170" y="1339900"/>
                <a:ext cx="3767993" cy="105731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B6F05B6-E332-C7D0-6287-7D71374FD676}"/>
              </a:ext>
            </a:extLst>
          </p:cNvPr>
          <p:cNvSpPr/>
          <p:nvPr/>
        </p:nvSpPr>
        <p:spPr>
          <a:xfrm>
            <a:off x="186170" y="3018599"/>
            <a:ext cx="3767993" cy="1057311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Locality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(Interaction among points)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6935677-51E1-805D-4D3A-43499FD45A40}"/>
              </a:ext>
            </a:extLst>
          </p:cNvPr>
          <p:cNvSpPr/>
          <p:nvPr/>
        </p:nvSpPr>
        <p:spPr>
          <a:xfrm>
            <a:off x="186170" y="4767063"/>
            <a:ext cx="3767993" cy="1057311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Invariance under transformations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1D86C7-0F35-4DA7-455E-D3EFB6B62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602" y="4607122"/>
            <a:ext cx="2231400" cy="13771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7D7BF6C-43C3-7415-DCE2-BF62E1E10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406" y="1247958"/>
            <a:ext cx="1430037" cy="11962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50528F-CCFC-D389-F920-E2430D44C8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0025" y="3084524"/>
            <a:ext cx="1574800" cy="965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EFD314-02CC-465C-B05D-CD6C36F822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425" y="3028919"/>
            <a:ext cx="1066800" cy="622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60488CB-D395-E064-D75F-70CBD114F760}"/>
              </a:ext>
            </a:extLst>
          </p:cNvPr>
          <p:cNvSpPr txBox="1">
            <a:spLocks/>
          </p:cNvSpPr>
          <p:nvPr/>
        </p:nvSpPr>
        <p:spPr>
          <a:xfrm>
            <a:off x="6227872" y="1293667"/>
            <a:ext cx="23695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Symmetry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2423415-F8F6-88D7-EE62-DC8E6AB42A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75285" y="1693777"/>
                <a:ext cx="4577453" cy="40011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,…,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…,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2423415-F8F6-88D7-EE62-DC8E6AB42A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75285" y="1693777"/>
                <a:ext cx="4577453" cy="400110"/>
              </a:xfrm>
              <a:blipFill>
                <a:blip r:embed="rId7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9AB88A-63D1-00F9-08B2-15CF526DF9ED}"/>
                  </a:ext>
                </a:extLst>
              </p:cNvPr>
              <p:cNvSpPr txBox="1"/>
              <p:nvPr/>
            </p:nvSpPr>
            <p:spPr>
              <a:xfrm>
                <a:off x="7357173" y="2246524"/>
                <a:ext cx="2480515" cy="3739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≔</m:t>
                    </m:r>
                    <m:nary>
                      <m:naryPr>
                        <m:chr m:val="∏"/>
                        <m:ctrlPr>
                          <a:rPr lang="en-US" sz="18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→</m:t>
                        </m:r>
                      </m:e>
                    </m:nary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9AB88A-63D1-00F9-08B2-15CF526DF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7173" y="2246524"/>
                <a:ext cx="2480515" cy="373949"/>
              </a:xfrm>
              <a:prstGeom prst="rect">
                <a:avLst/>
              </a:prstGeom>
              <a:blipFill>
                <a:blip r:embed="rId8"/>
                <a:stretch>
                  <a:fillRect t="-113333" b="-16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DB2624F-EF52-9B11-B91D-D4DE6551AE78}"/>
              </a:ext>
            </a:extLst>
          </p:cNvPr>
          <p:cNvSpPr txBox="1">
            <a:spLocks/>
          </p:cNvSpPr>
          <p:nvPr/>
        </p:nvSpPr>
        <p:spPr>
          <a:xfrm>
            <a:off x="6227873" y="3018599"/>
            <a:ext cx="48771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and Global Information Aggregation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2FA609E8-0509-71EE-D47A-7C6C940551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27873" y="3404619"/>
                <a:ext cx="4577453" cy="40011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𝐶𝑜𝑛𝑐𝑎𝑡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𝑎𝑥𝑖𝑠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=1)</m:t>
                      </m:r>
                    </m:oMath>
                  </m:oMathPara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2FA609E8-0509-71EE-D47A-7C6C94055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7873" y="3404619"/>
                <a:ext cx="4577453" cy="400110"/>
              </a:xfrm>
              <a:prstGeom prst="rect">
                <a:avLst/>
              </a:prstGeom>
              <a:blipFill>
                <a:blip r:embed="rId9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E165E2-05D9-44F4-1D40-A2AABD32FF63}"/>
                  </a:ext>
                </a:extLst>
              </p:cNvPr>
              <p:cNvSpPr txBox="1"/>
              <p:nvPr/>
            </p:nvSpPr>
            <p:spPr>
              <a:xfrm>
                <a:off x="7708533" y="3788111"/>
                <a:ext cx="3637684" cy="683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𝐺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)∈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E165E2-05D9-44F4-1D40-A2AABD32F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8533" y="3788111"/>
                <a:ext cx="3637684" cy="683520"/>
              </a:xfrm>
              <a:prstGeom prst="rect">
                <a:avLst/>
              </a:prstGeom>
              <a:blipFill>
                <a:blip r:embed="rId10"/>
                <a:stretch>
                  <a:fillRect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C3A95515-54AB-615D-21D7-B5AE85061320}"/>
              </a:ext>
            </a:extLst>
          </p:cNvPr>
          <p:cNvSpPr txBox="1">
            <a:spLocks/>
          </p:cNvSpPr>
          <p:nvPr/>
        </p:nvSpPr>
        <p:spPr>
          <a:xfrm>
            <a:off x="6227872" y="4541081"/>
            <a:ext cx="29613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Joint Alignment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6683DD-5135-A9D9-1255-07C5DA7E5582}"/>
                  </a:ext>
                </a:extLst>
              </p:cNvPr>
              <p:cNvSpPr txBox="1"/>
              <p:nvPr/>
            </p:nvSpPr>
            <p:spPr>
              <a:xfrm>
                <a:off x="6354697" y="5090519"/>
                <a:ext cx="2555795" cy="7338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</m:m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6683DD-5135-A9D9-1255-07C5DA7E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4697" y="5090519"/>
                <a:ext cx="2555795" cy="733855"/>
              </a:xfrm>
              <a:prstGeom prst="rect">
                <a:avLst/>
              </a:prstGeom>
              <a:blipFill>
                <a:blip r:embed="rId11"/>
                <a:stretch>
                  <a:fillRect t="-1695" b="-1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6BAB7-61CA-A449-E306-DBB446A7434D}"/>
                  </a:ext>
                </a:extLst>
              </p:cNvPr>
              <p:cNvSpPr txBox="1"/>
              <p:nvPr/>
            </p:nvSpPr>
            <p:spPr>
              <a:xfrm>
                <a:off x="8895372" y="5263482"/>
                <a:ext cx="2450845" cy="387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6BAB7-61CA-A449-E306-DBB446A74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372" y="5263482"/>
                <a:ext cx="2450845" cy="38792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itle 1">
                <a:extLst>
                  <a:ext uri="{FF2B5EF4-FFF2-40B4-BE49-F238E27FC236}">
                    <a16:creationId xmlns:a16="http://schemas.microsoft.com/office/drawing/2014/main" id="{88B5CFDB-4057-4A3C-6EAC-0C99C46A3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01893" y="0"/>
                <a:ext cx="5642355" cy="5531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25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Properties of Point Sets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5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itle 1">
                <a:extLst>
                  <a:ext uri="{FF2B5EF4-FFF2-40B4-BE49-F238E27FC236}">
                    <a16:creationId xmlns:a16="http://schemas.microsoft.com/office/drawing/2014/main" id="{88B5CFDB-4057-4A3C-6EAC-0C99C46A3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893" y="0"/>
                <a:ext cx="5642355" cy="553100"/>
              </a:xfrm>
              <a:prstGeom prst="rect">
                <a:avLst/>
              </a:prstGeom>
              <a:blipFill>
                <a:blip r:embed="rId13"/>
                <a:stretch>
                  <a:fillRect l="-1794" t="-6818" b="-15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9340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7BD0B-1B75-3A49-0B35-B7F49B93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68F82B-0367-E7FE-18F4-533D8AF9D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010" y="2207997"/>
            <a:ext cx="12364019" cy="44304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060337C-5FF0-AD70-3743-A455AD4B2195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C074BD0-B220-357C-C629-B2D559CAF49A}"/>
              </a:ext>
            </a:extLst>
          </p:cNvPr>
          <p:cNvSpPr txBox="1">
            <a:spLocks/>
          </p:cNvSpPr>
          <p:nvPr/>
        </p:nvSpPr>
        <p:spPr>
          <a:xfrm>
            <a:off x="9102439" y="0"/>
            <a:ext cx="3269671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PointNet Architecture</a:t>
            </a:r>
          </a:p>
        </p:txBody>
      </p:sp>
    </p:spTree>
    <p:extLst>
      <p:ext uri="{BB962C8B-B14F-4D97-AF65-F5344CB8AC3E}">
        <p14:creationId xmlns:p14="http://schemas.microsoft.com/office/powerpoint/2010/main" val="1230980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3CDA8B-B17D-0088-2D2A-F2E5396E5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6010" y="2207997"/>
            <a:ext cx="12364019" cy="44304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29EC9452-51B0-A805-8ABF-BE21AD4651D4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B2114F-519A-268D-EC5D-0C98D221F7D3}"/>
              </a:ext>
            </a:extLst>
          </p:cNvPr>
          <p:cNvSpPr txBox="1">
            <a:spLocks/>
          </p:cNvSpPr>
          <p:nvPr/>
        </p:nvSpPr>
        <p:spPr>
          <a:xfrm>
            <a:off x="9102439" y="0"/>
            <a:ext cx="3269671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PointNet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67DF8088-A180-1306-CA9D-2B658D5F0612}"/>
                  </a:ext>
                </a:extLst>
              </p:cNvPr>
              <p:cNvSpPr/>
              <p:nvPr/>
            </p:nvSpPr>
            <p:spPr>
              <a:xfrm>
                <a:off x="674244" y="1155593"/>
                <a:ext cx="4288332" cy="872592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!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Permutation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Pair-wise Independent</a:t>
                </a:r>
              </a:p>
              <a:p>
                <a:pPr algn="ctr"/>
                <a:r>
                  <a:rPr lang="en-US" b="1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Invariance under transformations</a:t>
                </a:r>
              </a:p>
            </p:txBody>
          </p:sp>
        </mc:Choice>
        <mc:Fallback xmlns="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67DF8088-A180-1306-CA9D-2B658D5F06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44" y="1155593"/>
                <a:ext cx="4288332" cy="87259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ame 11">
            <a:extLst>
              <a:ext uri="{FF2B5EF4-FFF2-40B4-BE49-F238E27FC236}">
                <a16:creationId xmlns:a16="http://schemas.microsoft.com/office/drawing/2014/main" id="{F442E9A7-843C-F5D8-9F58-3CA921AC5DD9}"/>
              </a:ext>
            </a:extLst>
          </p:cNvPr>
          <p:cNvSpPr/>
          <p:nvPr/>
        </p:nvSpPr>
        <p:spPr>
          <a:xfrm>
            <a:off x="720436" y="4668982"/>
            <a:ext cx="1953491" cy="1371600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E86DEC-CBD1-7740-2B15-12E554AE3940}"/>
                  </a:ext>
                </a:extLst>
              </p:cNvPr>
              <p:cNvSpPr txBox="1"/>
              <p:nvPr/>
            </p:nvSpPr>
            <p:spPr>
              <a:xfrm>
                <a:off x="5064557" y="1235628"/>
                <a:ext cx="3959886" cy="11705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</m:m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</m:m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</m:m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altLang="ko-KR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mr>
                      </m:m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E86DEC-CBD1-7740-2B15-12E554AE3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4557" y="1235628"/>
                <a:ext cx="3959886" cy="11705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B7A30DC-6273-26D0-36F3-2B064F7F0612}"/>
              </a:ext>
            </a:extLst>
          </p:cNvPr>
          <p:cNvSpPr txBox="1">
            <a:spLocks/>
          </p:cNvSpPr>
          <p:nvPr/>
        </p:nvSpPr>
        <p:spPr>
          <a:xfrm>
            <a:off x="186170" y="6220394"/>
            <a:ext cx="5264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T-Net: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Affine Transformation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97B3964-A8B0-1522-9CA7-DE4BA444DB93}"/>
                  </a:ext>
                </a:extLst>
              </p:cNvPr>
              <p:cNvSpPr txBox="1"/>
              <p:nvPr/>
            </p:nvSpPr>
            <p:spPr>
              <a:xfrm>
                <a:off x="9176119" y="1602811"/>
                <a:ext cx="2705965" cy="436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𝑟𝑒𝑔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𝕝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−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97B3964-A8B0-1522-9CA7-DE4BA444D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119" y="1602811"/>
                <a:ext cx="2705965" cy="436210"/>
              </a:xfrm>
              <a:prstGeom prst="rect">
                <a:avLst/>
              </a:prstGeom>
              <a:blipFill>
                <a:blip r:embed="rId6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Frame 20">
            <a:extLst>
              <a:ext uri="{FF2B5EF4-FFF2-40B4-BE49-F238E27FC236}">
                <a16:creationId xmlns:a16="http://schemas.microsoft.com/office/drawing/2014/main" id="{0BDC8899-09BC-4083-1207-661C6E3C524D}"/>
              </a:ext>
            </a:extLst>
          </p:cNvPr>
          <p:cNvSpPr/>
          <p:nvPr/>
        </p:nvSpPr>
        <p:spPr>
          <a:xfrm>
            <a:off x="3111066" y="4668982"/>
            <a:ext cx="1953491" cy="1371600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B679DE-E619-E7FA-EC9E-61CB16F3D56F}"/>
              </a:ext>
            </a:extLst>
          </p:cNvPr>
          <p:cNvSpPr txBox="1">
            <a:spLocks/>
          </p:cNvSpPr>
          <p:nvPr/>
        </p:nvSpPr>
        <p:spPr>
          <a:xfrm>
            <a:off x="5450651" y="835518"/>
            <a:ext cx="5264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Input/Feature Transform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285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2EA4C-20C6-BB5B-EE6D-9DF1F1C0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CD5644-2D5D-DF51-9FDC-BB6D7547F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010" y="2207997"/>
            <a:ext cx="12364019" cy="44304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220D048D-97C8-1A71-E541-DC2AB2DAE683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758FECC-0A31-E810-64C2-D4BDA79A0FCF}"/>
              </a:ext>
            </a:extLst>
          </p:cNvPr>
          <p:cNvSpPr txBox="1">
            <a:spLocks/>
          </p:cNvSpPr>
          <p:nvPr/>
        </p:nvSpPr>
        <p:spPr>
          <a:xfrm>
            <a:off x="9102439" y="0"/>
            <a:ext cx="3269671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PointNet Architecture</a:t>
            </a: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E24EB799-F40A-EE97-9CB5-489A34FF4A74}"/>
              </a:ext>
            </a:extLst>
          </p:cNvPr>
          <p:cNvSpPr/>
          <p:nvPr/>
        </p:nvSpPr>
        <p:spPr>
          <a:xfrm>
            <a:off x="2549237" y="2624715"/>
            <a:ext cx="1260764" cy="1670194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BBDF3B6E-C114-EAA7-C5C3-A1BC43FCA96C}"/>
              </a:ext>
            </a:extLst>
          </p:cNvPr>
          <p:cNvSpPr/>
          <p:nvPr/>
        </p:nvSpPr>
        <p:spPr>
          <a:xfrm>
            <a:off x="6194424" y="2624715"/>
            <a:ext cx="1260764" cy="1670194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79A5B986-C156-4D99-6501-F577CFDBAB3F}"/>
              </a:ext>
            </a:extLst>
          </p:cNvPr>
          <p:cNvSpPr/>
          <p:nvPr/>
        </p:nvSpPr>
        <p:spPr>
          <a:xfrm>
            <a:off x="7455188" y="4631576"/>
            <a:ext cx="1260764" cy="1670194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7F9E4577-FC30-0CE5-D30F-B8A46FCFEE94}"/>
              </a:ext>
            </a:extLst>
          </p:cNvPr>
          <p:cNvSpPr/>
          <p:nvPr/>
        </p:nvSpPr>
        <p:spPr>
          <a:xfrm>
            <a:off x="9365673" y="4617722"/>
            <a:ext cx="1260764" cy="1670194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E4C4FD3-93F5-E36E-CC5D-DA234DB72774}"/>
                  </a:ext>
                </a:extLst>
              </p:cNvPr>
              <p:cNvSpPr txBox="1"/>
              <p:nvPr/>
            </p:nvSpPr>
            <p:spPr>
              <a:xfrm>
                <a:off x="5164281" y="1218509"/>
                <a:ext cx="3182505" cy="11477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mP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</m:m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m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m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13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mr>
                    </m:m>
                    <m:r>
                      <a:rPr lang="en-US" altLang="ko-KR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altLang="ko-KR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</m:m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E4C4FD3-93F5-E36E-CC5D-DA234DB72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281" y="1218509"/>
                <a:ext cx="3182505" cy="1147750"/>
              </a:xfrm>
              <a:prstGeom prst="rect">
                <a:avLst/>
              </a:prstGeom>
              <a:blipFill>
                <a:blip r:embed="rId3"/>
                <a:stretch>
                  <a:fillRect b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DCEC34-5B79-5BA7-808A-A93A31144C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09824" y="818399"/>
                <a:ext cx="45862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Shared Weight MLP</a:t>
                </a:r>
                <a:r>
                  <a:rPr lang="ko-KR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~</m:t>
                    </m:r>
                  </m:oMath>
                </a14:m>
                <a:r>
                  <a:rPr lang="ko-KR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1D Convolution</a:t>
                </a:r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DCEC34-5B79-5BA7-808A-A93A31144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9824" y="818399"/>
                <a:ext cx="4586231" cy="400110"/>
              </a:xfrm>
              <a:prstGeom prst="rect">
                <a:avLst/>
              </a:prstGeom>
              <a:blipFill>
                <a:blip r:embed="rId4"/>
                <a:stretch>
                  <a:fillRect l="-1377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CB735451-7E85-5EF7-3068-8574B81BFA58}"/>
                  </a:ext>
                </a:extLst>
              </p:cNvPr>
              <p:cNvSpPr/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!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Permutation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Pair-wise Independent</a:t>
                </a: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CB735451-7E85-5EF7-3068-8574B81BFA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F5D86-834A-6152-7679-C45C06B7398F}"/>
                  </a:ext>
                </a:extLst>
              </p:cNvPr>
              <p:cNvSpPr txBox="1"/>
              <p:nvPr/>
            </p:nvSpPr>
            <p:spPr>
              <a:xfrm>
                <a:off x="8617763" y="1218509"/>
                <a:ext cx="3182505" cy="11477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mP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</m:m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m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mr>
                      <m:m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13</m:t>
                              </m:r>
                            </m:sub>
                          </m:sSub>
                        </m: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mr>
                    </m:m>
                    <m:r>
                      <a:rPr lang="en-US" altLang="ko-KR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altLang="ko-KR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  <m:m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ko-KR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mr>
                    </m:m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F5D86-834A-6152-7679-C45C06B73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63" y="1218509"/>
                <a:ext cx="3182505" cy="1147750"/>
              </a:xfrm>
              <a:prstGeom prst="rect">
                <a:avLst/>
              </a:prstGeom>
              <a:blipFill>
                <a:blip r:embed="rId6"/>
                <a:stretch>
                  <a:fillRect b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710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6E383-111B-4C9B-789B-2EEC9ECE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292255E-9127-B398-FBD8-5FF7B188A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010" y="2207997"/>
            <a:ext cx="12364019" cy="44304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C15AB80-D2EF-0459-85D0-C2BD51B4A2F8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5083F31-8637-1FFF-C0C8-56F02952E420}"/>
              </a:ext>
            </a:extLst>
          </p:cNvPr>
          <p:cNvSpPr txBox="1">
            <a:spLocks/>
          </p:cNvSpPr>
          <p:nvPr/>
        </p:nvSpPr>
        <p:spPr>
          <a:xfrm>
            <a:off x="9102439" y="0"/>
            <a:ext cx="3269671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PointNet Architecture</a:t>
            </a: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4759B7C6-2703-1D64-C060-63F404BDB32C}"/>
              </a:ext>
            </a:extLst>
          </p:cNvPr>
          <p:cNvSpPr/>
          <p:nvPr/>
        </p:nvSpPr>
        <p:spPr>
          <a:xfrm>
            <a:off x="8715951" y="2624715"/>
            <a:ext cx="1855067" cy="1711758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B04A77-7B35-8522-4604-1D2363F7203E}"/>
                  </a:ext>
                </a:extLst>
              </p:cNvPr>
              <p:cNvSpPr txBox="1"/>
              <p:nvPr/>
            </p:nvSpPr>
            <p:spPr>
              <a:xfrm>
                <a:off x="5004140" y="1291137"/>
                <a:ext cx="508196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𝑎𝑥𝑝𝑜𝑜𝑙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 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𝑎𝑥𝑝𝑜𝑜𝑙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B04A77-7B35-8522-4604-1D2363F72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4140" y="1291137"/>
                <a:ext cx="5081969" cy="400110"/>
              </a:xfrm>
              <a:prstGeom prst="rect">
                <a:avLst/>
              </a:prstGeom>
              <a:blipFill>
                <a:blip r:embed="rId3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BE75989A-2095-2326-1DD9-36770CEAE6BF}"/>
              </a:ext>
            </a:extLst>
          </p:cNvPr>
          <p:cNvSpPr txBox="1">
            <a:spLocks/>
          </p:cNvSpPr>
          <p:nvPr/>
        </p:nvSpPr>
        <p:spPr>
          <a:xfrm>
            <a:off x="5252008" y="878229"/>
            <a:ext cx="283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MaxPooling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(axis 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DB17BB66-9B20-66A6-7087-28351ABA1A7E}"/>
                  </a:ext>
                </a:extLst>
              </p:cNvPr>
              <p:cNvSpPr/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𝑪𝒍𝒂𝒔𝒔𝒊𝒇𝒊𝒄𝒂𝒕𝒊𝒐𝒏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Symmetry Function (Unorder)</a:t>
                </a: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DB17BB66-9B20-66A6-7087-28351ABA1A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blipFill>
                <a:blip r:embed="rId4"/>
                <a:stretch>
                  <a:fillRect b="-50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6F28742-96D8-1812-BFC2-EF6F889F6379}"/>
              </a:ext>
            </a:extLst>
          </p:cNvPr>
          <p:cNvSpPr txBox="1">
            <a:spLocks/>
          </p:cNvSpPr>
          <p:nvPr/>
        </p:nvSpPr>
        <p:spPr>
          <a:xfrm>
            <a:off x="7545124" y="1851615"/>
            <a:ext cx="40306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Universal approximation &amp; Stability</a:t>
            </a:r>
          </a:p>
        </p:txBody>
      </p:sp>
    </p:spTree>
    <p:extLst>
      <p:ext uri="{BB962C8B-B14F-4D97-AF65-F5344CB8AC3E}">
        <p14:creationId xmlns:p14="http://schemas.microsoft.com/office/powerpoint/2010/main" val="840908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ACA96-E55D-8CA4-29DB-F867B3BFF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D1B1B40-3ADA-F1E9-3B29-AF876A063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010" y="2207997"/>
            <a:ext cx="12364019" cy="443044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D750180-AA39-D3B2-2E3B-CAED9A440B77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on Point Sets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F79530-F267-2080-375F-3C831ED7C579}"/>
              </a:ext>
            </a:extLst>
          </p:cNvPr>
          <p:cNvSpPr txBox="1">
            <a:spLocks/>
          </p:cNvSpPr>
          <p:nvPr/>
        </p:nvSpPr>
        <p:spPr>
          <a:xfrm>
            <a:off x="9102439" y="0"/>
            <a:ext cx="3269671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PointNet Architecture</a:t>
            </a: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F2F2F1E1-8981-9A5D-C774-45305F126901}"/>
              </a:ext>
            </a:extLst>
          </p:cNvPr>
          <p:cNvSpPr/>
          <p:nvPr/>
        </p:nvSpPr>
        <p:spPr>
          <a:xfrm>
            <a:off x="5357698" y="4504449"/>
            <a:ext cx="2262302" cy="1660824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A4C3A4-9414-3547-76E4-B241015D3B1B}"/>
              </a:ext>
            </a:extLst>
          </p:cNvPr>
          <p:cNvSpPr txBox="1"/>
          <p:nvPr/>
        </p:nvSpPr>
        <p:spPr>
          <a:xfrm>
            <a:off x="5185587" y="1540792"/>
            <a:ext cx="63321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Combination of Local Geometry and Global Semantic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5AC1D5-CCC9-A14A-5A35-9C2652F18190}"/>
              </a:ext>
            </a:extLst>
          </p:cNvPr>
          <p:cNvSpPr txBox="1">
            <a:spLocks/>
          </p:cNvSpPr>
          <p:nvPr/>
        </p:nvSpPr>
        <p:spPr>
          <a:xfrm>
            <a:off x="5357698" y="1097562"/>
            <a:ext cx="4586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Concatenate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(axis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0010C8BB-3F0E-EBE3-1837-E724AEBE61F2}"/>
                  </a:ext>
                </a:extLst>
              </p:cNvPr>
              <p:cNvSpPr/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𝑺𝒆𝒈𝒎𝒆𝒏𝒕𝒂𝒕𝒊𝒐𝒏</m:t>
                      </m:r>
                      <m:r>
                        <a:rPr lang="en-US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Interaction among Points</a:t>
                </a: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0010C8BB-3F0E-EBE3-1837-E724AEBE61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44" y="1155593"/>
                <a:ext cx="4288332" cy="739750"/>
              </a:xfrm>
              <a:prstGeom prst="roundRect">
                <a:avLst/>
              </a:prstGeom>
              <a:blipFill>
                <a:blip r:embed="rId3"/>
                <a:stretch>
                  <a:fillRect b="-50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7720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9C08-BD87-6082-9FF2-EF70C1B6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5238E96-E5EE-A4EA-F59D-7BD0A8A6E011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Supplementary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CC0809-8465-B11C-1025-73F4CD3AB77B}"/>
              </a:ext>
            </a:extLst>
          </p:cNvPr>
          <p:cNvSpPr txBox="1">
            <a:spLocks/>
          </p:cNvSpPr>
          <p:nvPr/>
        </p:nvSpPr>
        <p:spPr>
          <a:xfrm>
            <a:off x="8035637" y="0"/>
            <a:ext cx="4336474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Bottleneck dimension and stability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28AD1034-DDDA-9B23-170D-2FEF86F52C1B}"/>
                  </a:ext>
                </a:extLst>
              </p:cNvPr>
              <p:cNvSpPr/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𝑼𝒏𝒊𝒗𝒆𝒓𝒔𝒂𝒍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𝑨𝒑𝒑𝒓𝒐𝒙𝒊𝒎𝒂𝒕𝒊𝒐𝒏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28AD1034-DDDA-9B23-170D-2FEF86F52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6E23A7D-1332-AD32-2EEE-4524616A6FB0}"/>
              </a:ext>
            </a:extLst>
          </p:cNvPr>
          <p:cNvSpPr txBox="1">
            <a:spLocks/>
          </p:cNvSpPr>
          <p:nvPr/>
        </p:nvSpPr>
        <p:spPr>
          <a:xfrm>
            <a:off x="7785880" y="1667827"/>
            <a:ext cx="4586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MaxPooling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(axis 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425B68-3096-09ED-4A9A-59D445CA0E34}"/>
                  </a:ext>
                </a:extLst>
              </p:cNvPr>
              <p:cNvSpPr txBox="1"/>
              <p:nvPr/>
            </p:nvSpPr>
            <p:spPr>
              <a:xfrm>
                <a:off x="5617154" y="1400349"/>
                <a:ext cx="2058265" cy="5349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𝛾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∈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425B68-3096-09ED-4A9A-59D445CA0E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7154" y="1400349"/>
                <a:ext cx="2058265" cy="534955"/>
              </a:xfrm>
              <a:prstGeom prst="rect">
                <a:avLst/>
              </a:prstGeom>
              <a:blipFill>
                <a:blip r:embed="rId3"/>
                <a:stretch>
                  <a:fillRect t="-6977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7B02FDE-5011-F55F-97FD-D94B2E12003B}"/>
              </a:ext>
            </a:extLst>
          </p:cNvPr>
          <p:cNvSpPr txBox="1">
            <a:spLocks/>
          </p:cNvSpPr>
          <p:nvPr/>
        </p:nvSpPr>
        <p:spPr>
          <a:xfrm>
            <a:off x="7785880" y="842940"/>
            <a:ext cx="31722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Input/Feature Transform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3371-1A7A-30A2-549B-CB6641DF436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85879" y="1243050"/>
                <a:ext cx="45862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Shared Weight MLP</a:t>
                </a:r>
                <a:r>
                  <a:rPr lang="ko-KR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~</m:t>
                    </m:r>
                  </m:oMath>
                </a14:m>
                <a:r>
                  <a:rPr lang="ko-KR" alt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1D Convolution</a:t>
                </a:r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3371-1A7A-30A2-549B-CB6641DF4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879" y="1243050"/>
                <a:ext cx="4586231" cy="400110"/>
              </a:xfrm>
              <a:prstGeom prst="rect">
                <a:avLst/>
              </a:prstGeom>
              <a:blipFill>
                <a:blip r:embed="rId4"/>
                <a:stretch>
                  <a:fillRect l="-1102" t="-6061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A7AADE7-7203-49C9-DEB5-248E6F7EB392}"/>
              </a:ext>
            </a:extLst>
          </p:cNvPr>
          <p:cNvSpPr txBox="1">
            <a:spLocks/>
          </p:cNvSpPr>
          <p:nvPr/>
        </p:nvSpPr>
        <p:spPr>
          <a:xfrm>
            <a:off x="7785878" y="2067937"/>
            <a:ext cx="4586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F1482E-98E4-F51A-4F5C-5EB9B8490191}"/>
                  </a:ext>
                </a:extLst>
              </p:cNvPr>
              <p:cNvSpPr txBox="1"/>
              <p:nvPr/>
            </p:nvSpPr>
            <p:spPr>
              <a:xfrm>
                <a:off x="393516" y="2490112"/>
                <a:ext cx="5197041" cy="7346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𝜒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={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</a:p>
              <a:p>
                <a:pPr algn="ctr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F1482E-98E4-F51A-4F5C-5EB9B8490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16" y="2490112"/>
                <a:ext cx="5197041" cy="734625"/>
              </a:xfrm>
              <a:prstGeom prst="rect">
                <a:avLst/>
              </a:prstGeom>
              <a:blipFill>
                <a:blip r:embed="rId5"/>
                <a:stretch>
                  <a:fillRect t="-3390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93AD08-9474-144E-A67A-9A850FC604D9}"/>
                  </a:ext>
                </a:extLst>
              </p:cNvPr>
              <p:cNvSpPr txBox="1"/>
              <p:nvPr/>
            </p:nvSpPr>
            <p:spPr>
              <a:xfrm>
                <a:off x="393516" y="3741848"/>
                <a:ext cx="519704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&gt; 0, ∃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𝛿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&gt; 0,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’ ∈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𝜒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’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&lt;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𝛿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⇒ 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–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’)| &lt;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𝜖</m:t>
                      </m:r>
                    </m:oMath>
                  </m:oMathPara>
                </a14:m>
              </a:p>
              <a:p>
                <a:pPr algn="ctr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93AD08-9474-144E-A67A-9A850FC60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16" y="3741848"/>
                <a:ext cx="5197041" cy="707886"/>
              </a:xfrm>
              <a:prstGeom prst="rect">
                <a:avLst/>
              </a:prstGeom>
              <a:blipFill>
                <a:blip r:embed="rId6"/>
                <a:stretch>
                  <a:fillRect t="-5263" b="-14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9D2B655E-285E-0CCA-F3FA-2647F939F6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100" y="3214988"/>
            <a:ext cx="3703583" cy="73897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F504950-DBC6-31EA-5C7A-64BC22C7F29F}"/>
              </a:ext>
            </a:extLst>
          </p:cNvPr>
          <p:cNvSpPr txBox="1"/>
          <p:nvPr/>
        </p:nvSpPr>
        <p:spPr>
          <a:xfrm>
            <a:off x="6464389" y="3082355"/>
            <a:ext cx="190142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b="0" dirty="0" err="1">
                <a:latin typeface="Cambria Math" panose="02040503050406030204" pitchFamily="18" charset="0"/>
                <a:cs typeface="Times New Roman" panose="02020603050405020304" pitchFamily="18" charset="0"/>
              </a:rPr>
              <a:t>Hausdorff</a:t>
            </a:r>
            <a:r>
              <a:rPr lang="en-US" sz="1500" b="0" dirty="0">
                <a:latin typeface="Cambria Math" panose="02040503050406030204" pitchFamily="18" charset="0"/>
                <a:cs typeface="Times New Roman" panose="02020603050405020304" pitchFamily="18" charset="0"/>
              </a:rPr>
              <a:t> distance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B2510D5-4288-E7F6-9358-7266C35E5B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85878" y="3960810"/>
            <a:ext cx="2624570" cy="25932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AC5918-7F25-DE21-6DE0-7CDA01CB631A}"/>
                  </a:ext>
                </a:extLst>
              </p:cNvPr>
              <p:cNvSpPr txBox="1"/>
              <p:nvPr/>
            </p:nvSpPr>
            <p:spPr>
              <a:xfrm>
                <a:off x="619094" y="5257411"/>
                <a:ext cx="4379733" cy="7098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⋃"/>
                          <m:supHide m:val="on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∈ </m:t>
                          </m:r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χ</m:t>
                          </m:r>
                        </m:sub>
                        <m:sup/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 − </m:t>
                          </m:r>
                        </m:e>
                      </m:nary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𝛾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∈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| &lt;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𝜖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AC5918-7F25-DE21-6DE0-7CDA01CB6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94" y="5257411"/>
                <a:ext cx="4379733" cy="709874"/>
              </a:xfrm>
              <a:prstGeom prst="rect">
                <a:avLst/>
              </a:prstGeom>
              <a:blipFill>
                <a:blip r:embed="rId9"/>
                <a:stretch>
                  <a:fillRect l="-8382" t="-138596" b="-192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E8C5378F-5266-A079-03A8-DC2BC370AD42}"/>
              </a:ext>
            </a:extLst>
          </p:cNvPr>
          <p:cNvSpPr txBox="1"/>
          <p:nvPr/>
        </p:nvSpPr>
        <p:spPr>
          <a:xfrm>
            <a:off x="4422892" y="4438074"/>
            <a:ext cx="11942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dirty="0">
                <a:latin typeface="Cambria Math" panose="02040503050406030204" pitchFamily="18" charset="0"/>
                <a:cs typeface="Times New Roman" panose="02020603050405020304" pitchFamily="18" charset="0"/>
              </a:rPr>
              <a:t>Continuity</a:t>
            </a:r>
          </a:p>
        </p:txBody>
      </p:sp>
    </p:spTree>
    <p:extLst>
      <p:ext uri="{BB962C8B-B14F-4D97-AF65-F5344CB8AC3E}">
        <p14:creationId xmlns:p14="http://schemas.microsoft.com/office/powerpoint/2010/main" val="3627713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EC423-3EC9-FC5F-3228-33E69736B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4781DE-A123-C8AD-93F2-B8EC1D96D224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Supplementary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DD3E93-EF0E-12CE-37BE-4B2831E1922E}"/>
              </a:ext>
            </a:extLst>
          </p:cNvPr>
          <p:cNvSpPr txBox="1">
            <a:spLocks/>
          </p:cNvSpPr>
          <p:nvPr/>
        </p:nvSpPr>
        <p:spPr>
          <a:xfrm>
            <a:off x="8035637" y="0"/>
            <a:ext cx="4336474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Bottleneck dimension and stability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AFB5FA4D-9D06-B866-DB2D-F1D6A6E1E54A}"/>
                  </a:ext>
                </a:extLst>
              </p:cNvPr>
              <p:cNvSpPr/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𝑼𝒏𝒊𝒗𝒆𝒓𝒔𝒂𝒍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𝑨𝒑𝒑𝒓𝒐𝒙𝒊𝒎𝒂𝒕𝒊𝒐𝒏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28AD1034-DDDA-9B23-170D-2FEF86F52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4CABE0E-32C6-BFD3-5DF0-96C103C63101}"/>
                  </a:ext>
                </a:extLst>
              </p:cNvPr>
              <p:cNvSpPr txBox="1"/>
              <p:nvPr/>
            </p:nvSpPr>
            <p:spPr>
              <a:xfrm>
                <a:off x="260794" y="3702426"/>
                <a:ext cx="6318681" cy="716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α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∪ </m:t>
                              </m:r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≠ ∅</m:t>
                              </m:r>
                            </m: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0,  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∪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ko-KR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 ∅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4CABE0E-32C6-BFD3-5DF0-96C103C63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794" y="3702426"/>
                <a:ext cx="6318681" cy="716030"/>
              </a:xfrm>
              <a:prstGeom prst="rect">
                <a:avLst/>
              </a:prstGeom>
              <a:blipFill>
                <a:blip r:embed="rId3"/>
                <a:stretch>
                  <a:fillRect t="-191228" b="-275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B91402-CBA4-20C7-A911-38333DC0B531}"/>
                  </a:ext>
                </a:extLst>
              </p:cNvPr>
              <p:cNvSpPr txBox="1"/>
              <p:nvPr/>
            </p:nvSpPr>
            <p:spPr>
              <a:xfrm>
                <a:off x="361987" y="2428089"/>
                <a:ext cx="5197041" cy="778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1,  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∈ 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      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0,  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B91402-CBA4-20C7-A911-38333DC0B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87" y="2428089"/>
                <a:ext cx="5197041" cy="778868"/>
              </a:xfrm>
              <a:prstGeom prst="rect">
                <a:avLst/>
              </a:prstGeom>
              <a:blipFill>
                <a:blip r:embed="rId4"/>
                <a:stretch>
                  <a:fillRect t="-195161" b="-283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3965EE6-18C2-E5A3-62CB-C161A4076573}"/>
              </a:ext>
            </a:extLst>
          </p:cNvPr>
          <p:cNvSpPr txBox="1"/>
          <p:nvPr/>
        </p:nvSpPr>
        <p:spPr>
          <a:xfrm>
            <a:off x="4723465" y="2645861"/>
            <a:ext cx="298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dirty="0">
                <a:latin typeface="Cambria Math" panose="02040503050406030204" pitchFamily="18" charset="0"/>
                <a:cs typeface="Times New Roman" panose="02020603050405020304" pitchFamily="18" charset="0"/>
              </a:rPr>
              <a:t>But continuous like Dirac-Delta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DCB5F6A-879A-A235-A8AC-B6F852B30189}"/>
                  </a:ext>
                </a:extLst>
              </p:cNvPr>
              <p:cNvSpPr txBox="1"/>
              <p:nvPr/>
            </p:nvSpPr>
            <p:spPr>
              <a:xfrm>
                <a:off x="898959" y="3195414"/>
                <a:ext cx="5197041" cy="4510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𝛼𝜙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𝛼𝜙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,…,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𝛼𝜙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DCB5F6A-879A-A235-A8AC-B6F852B30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59" y="3195414"/>
                <a:ext cx="5197041" cy="451086"/>
              </a:xfrm>
              <a:prstGeom prst="rect">
                <a:avLst/>
              </a:prstGeom>
              <a:blipFill>
                <a:blip r:embed="rId5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E1610772-13EA-A831-1F59-51E7E363759E}"/>
              </a:ext>
            </a:extLst>
          </p:cNvPr>
          <p:cNvGrpSpPr/>
          <p:nvPr/>
        </p:nvGrpSpPr>
        <p:grpSpPr>
          <a:xfrm>
            <a:off x="5046263" y="1131313"/>
            <a:ext cx="7145737" cy="824659"/>
            <a:chOff x="619094" y="3896969"/>
            <a:chExt cx="7145737" cy="82465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AC248F1-BEEB-6304-D555-5045E26AC49E}"/>
                </a:ext>
              </a:extLst>
            </p:cNvPr>
            <p:cNvGrpSpPr/>
            <p:nvPr/>
          </p:nvGrpSpPr>
          <p:grpSpPr>
            <a:xfrm>
              <a:off x="619094" y="3896969"/>
              <a:ext cx="7145737" cy="628215"/>
              <a:chOff x="619094" y="3876507"/>
              <a:chExt cx="7145737" cy="628215"/>
            </a:xfrm>
          </p:grpSpPr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326278F-DAB3-6695-8E34-D37C9834AB49}"/>
                  </a:ext>
                </a:extLst>
              </p:cNvPr>
              <p:cNvCxnSpPr/>
              <p:nvPr/>
            </p:nvCxnSpPr>
            <p:spPr>
              <a:xfrm>
                <a:off x="619094" y="4193628"/>
                <a:ext cx="611803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275D39F-228C-E3D2-53D5-E2E57DB47298}"/>
                  </a:ext>
                </a:extLst>
              </p:cNvPr>
              <p:cNvSpPr txBox="1"/>
              <p:nvPr/>
            </p:nvSpPr>
            <p:spPr>
              <a:xfrm>
                <a:off x="619094" y="3882535"/>
                <a:ext cx="43680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A22CA93-B8C3-2903-224B-CA09F56B42E2}"/>
                  </a:ext>
                </a:extLst>
              </p:cNvPr>
              <p:cNvSpPr txBox="1"/>
              <p:nvPr/>
            </p:nvSpPr>
            <p:spPr>
              <a:xfrm>
                <a:off x="6143924" y="3876507"/>
                <a:ext cx="43680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1</a:t>
                </a:r>
                <a:endParaRPr lang="en-US" sz="1200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86ED391-B94F-8B7C-D7A9-03A0943E92BA}"/>
                  </a:ext>
                </a:extLst>
              </p:cNvPr>
              <p:cNvCxnSpPr/>
              <p:nvPr/>
            </p:nvCxnSpPr>
            <p:spPr>
              <a:xfrm flipV="1">
                <a:off x="837495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F47E09B-5991-45EC-3B68-F529BB83F14B}"/>
                  </a:ext>
                </a:extLst>
              </p:cNvPr>
              <p:cNvCxnSpPr/>
              <p:nvPr/>
            </p:nvCxnSpPr>
            <p:spPr>
              <a:xfrm flipV="1">
                <a:off x="6362325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600858CD-D212-3918-BB44-F489CC889D72}"/>
                  </a:ext>
                </a:extLst>
              </p:cNvPr>
              <p:cNvCxnSpPr/>
              <p:nvPr/>
            </p:nvCxnSpPr>
            <p:spPr>
              <a:xfrm flipV="1">
                <a:off x="1068330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3F42E287-0639-D1E2-D585-F84E0F388C97}"/>
                  </a:ext>
                </a:extLst>
              </p:cNvPr>
              <p:cNvCxnSpPr/>
              <p:nvPr/>
            </p:nvCxnSpPr>
            <p:spPr>
              <a:xfrm flipV="1">
                <a:off x="1305205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8BAC570-71A2-4A29-E53E-98055F75D2BC}"/>
                  </a:ext>
                </a:extLst>
              </p:cNvPr>
              <p:cNvCxnSpPr/>
              <p:nvPr/>
            </p:nvCxnSpPr>
            <p:spPr>
              <a:xfrm flipV="1">
                <a:off x="5903716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F543A70-7ACE-AE37-12A8-453DCDC9601A}"/>
                  </a:ext>
                </a:extLst>
              </p:cNvPr>
              <p:cNvCxnSpPr/>
              <p:nvPr/>
            </p:nvCxnSpPr>
            <p:spPr>
              <a:xfrm flipV="1">
                <a:off x="6140591" y="4134183"/>
                <a:ext cx="0" cy="33282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AFD95CD-F650-D6FB-348A-D3626E039650}"/>
                  </a:ext>
                </a:extLst>
              </p:cNvPr>
              <p:cNvSpPr txBox="1"/>
              <p:nvPr/>
            </p:nvSpPr>
            <p:spPr>
              <a:xfrm>
                <a:off x="3286014" y="4212892"/>
                <a:ext cx="43680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1A1122B-4C4D-1D67-A5E6-F9572E0FFF41}"/>
                  </a:ext>
                </a:extLst>
              </p:cNvPr>
              <p:cNvSpPr txBox="1"/>
              <p:nvPr/>
            </p:nvSpPr>
            <p:spPr>
              <a:xfrm>
                <a:off x="6452876" y="4227723"/>
                <a:ext cx="13119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Partition into </a:t>
                </a:r>
                <a:r>
                  <a:rPr lang="en-US" sz="12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endParaRPr lang="en-US" sz="1200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F8BD5CF-B859-3D71-90E6-FDAEACEAA79F}"/>
                    </a:ext>
                  </a:extLst>
                </p:cNvPr>
                <p:cNvSpPr txBox="1"/>
                <p:nvPr/>
              </p:nvSpPr>
              <p:spPr>
                <a:xfrm>
                  <a:off x="749965" y="4421911"/>
                  <a:ext cx="4368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F8BD5CF-B859-3D71-90E6-FDAEACEAA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965" y="4421911"/>
                  <a:ext cx="436803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5E17DE2-C7D7-84F4-4B4C-52C953A46F28}"/>
                    </a:ext>
                  </a:extLst>
                </p:cNvPr>
                <p:cNvSpPr txBox="1"/>
                <p:nvPr/>
              </p:nvSpPr>
              <p:spPr>
                <a:xfrm>
                  <a:off x="960189" y="4421911"/>
                  <a:ext cx="4368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5E17DE2-C7D7-84F4-4B4C-52C953A46F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189" y="4421911"/>
                  <a:ext cx="436803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4DD9534-8602-B39E-B6F2-3C841D92E1A7}"/>
                    </a:ext>
                  </a:extLst>
                </p:cNvPr>
                <p:cNvSpPr txBox="1"/>
                <p:nvPr/>
              </p:nvSpPr>
              <p:spPr>
                <a:xfrm>
                  <a:off x="5813050" y="4444629"/>
                  <a:ext cx="4368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-1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4DD9534-8602-B39E-B6F2-3C841D92E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3050" y="4444629"/>
                  <a:ext cx="436803" cy="276999"/>
                </a:xfrm>
                <a:prstGeom prst="rect">
                  <a:avLst/>
                </a:prstGeom>
                <a:blipFill>
                  <a:blip r:embed="rId8"/>
                  <a:stretch>
                    <a:fillRect r="-2857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DFB05C-7B8F-794D-1EA9-544CD052D419}"/>
                    </a:ext>
                  </a:extLst>
                </p:cNvPr>
                <p:cNvSpPr txBox="1"/>
                <p:nvPr/>
              </p:nvSpPr>
              <p:spPr>
                <a:xfrm>
                  <a:off x="6074078" y="4444629"/>
                  <a:ext cx="4368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DFB05C-7B8F-794D-1EA9-544CD052D4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4078" y="4444629"/>
                  <a:ext cx="436803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AB36FEC-DAD9-2432-DD37-C3E157888191}"/>
                  </a:ext>
                </a:extLst>
              </p:cNvPr>
              <p:cNvSpPr txBox="1"/>
              <p:nvPr/>
            </p:nvSpPr>
            <p:spPr>
              <a:xfrm>
                <a:off x="7235351" y="4706061"/>
                <a:ext cx="4682202" cy="8022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⋃"/>
                          <m:supHide m:val="on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∈ </m:t>
                          </m:r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χ</m:t>
                          </m:r>
                        </m:sub>
                        <m:sup/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 − </m:t>
                          </m:r>
                        </m:e>
                      </m:nary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𝛾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∈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| &lt;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𝜖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AB36FEC-DAD9-2432-DD37-C3E157888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351" y="4706061"/>
                <a:ext cx="4682202" cy="802207"/>
              </a:xfrm>
              <a:prstGeom prst="rect">
                <a:avLst/>
              </a:prstGeom>
              <a:blipFill>
                <a:blip r:embed="rId10"/>
                <a:stretch>
                  <a:fillRect l="-4595" t="-118750" b="-16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D07A025-31DE-D730-3A33-73B371409292}"/>
                  </a:ext>
                </a:extLst>
              </p:cNvPr>
              <p:cNvSpPr txBox="1"/>
              <p:nvPr/>
            </p:nvSpPr>
            <p:spPr>
              <a:xfrm>
                <a:off x="619094" y="4583324"/>
                <a:ext cx="3329302" cy="4264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𝛾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:0,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k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D07A025-31DE-D730-3A33-73B371409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94" y="4583324"/>
                <a:ext cx="3329302" cy="426463"/>
              </a:xfrm>
              <a:prstGeom prst="rect">
                <a:avLst/>
              </a:prstGeom>
              <a:blipFill>
                <a:blip r:embed="rId11"/>
                <a:stretch>
                  <a:fillRect t="-2857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D49F78A8-E657-B9F3-B708-F5985C26958C}"/>
                  </a:ext>
                </a:extLst>
              </p:cNvPr>
              <p:cNvSpPr txBox="1"/>
              <p:nvPr/>
            </p:nvSpPr>
            <p:spPr>
              <a:xfrm>
                <a:off x="501766" y="5531488"/>
                <a:ext cx="10207985" cy="5349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200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∴</m:t>
                    </m:r>
                  </m:oMath>
                </a14:m>
                <a:r>
                  <a:rPr lang="en-US" altLang="ko-KR" sz="20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sufficiently large </a:t>
                </a:r>
                <a:r>
                  <a:rPr lang="en-US" altLang="ko-KR" sz="2000" i="1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ko-KR" sz="20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𝛾</m:t>
                    </m:r>
                    <m:r>
                      <a:rPr lang="ar-AE" sz="20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ar-A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limLow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𝑚𝑎𝑥</m:t>
                            </m:r>
                          </m:e>
                          <m:lim>
                            <m:sSub>
                              <m:sSub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∈</m:t>
                            </m:r>
                            <m: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ar-A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 sz="2000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ko-KR" sz="2000" dirty="0"/>
                  <a:t> can approximate </a:t>
                </a:r>
                <a:r>
                  <a:rPr lang="en-US" altLang="ko-KR" sz="2000" b="1" dirty="0"/>
                  <a:t>any</a:t>
                </a:r>
                <a:r>
                  <a:rPr lang="en-US" altLang="ko-KR" sz="2000" dirty="0"/>
                  <a:t> permutation invariance function.</a:t>
                </a:r>
                <a:r>
                  <a:rPr lang="en-US" altLang="ko-KR" sz="20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D49F78A8-E657-B9F3-B708-F5985C269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766" y="5531488"/>
                <a:ext cx="10207985" cy="534955"/>
              </a:xfrm>
              <a:prstGeom prst="rect">
                <a:avLst/>
              </a:prstGeom>
              <a:blipFill>
                <a:blip r:embed="rId12"/>
                <a:stretch>
                  <a:fillRect t="-6977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5537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C1A6D-414F-C30D-6AAF-E409A45D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E71A9D-C585-1BF9-CBA6-01ADE4C85BE4}"/>
              </a:ext>
            </a:extLst>
          </p:cNvPr>
          <p:cNvSpPr txBox="1">
            <a:spLocks/>
          </p:cNvSpPr>
          <p:nvPr/>
        </p:nvSpPr>
        <p:spPr>
          <a:xfrm>
            <a:off x="186170" y="219563"/>
            <a:ext cx="5611735" cy="623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Supplementary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3F3E773-2182-16FB-AE54-221568F21FA1}"/>
              </a:ext>
            </a:extLst>
          </p:cNvPr>
          <p:cNvSpPr txBox="1">
            <a:spLocks/>
          </p:cNvSpPr>
          <p:nvPr/>
        </p:nvSpPr>
        <p:spPr>
          <a:xfrm>
            <a:off x="8035637" y="0"/>
            <a:ext cx="4336474" cy="553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Bottleneck dimension and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56D7F783-77BD-1D1D-01B4-68FB56F9292F}"/>
                  </a:ext>
                </a:extLst>
              </p:cNvPr>
              <p:cNvSpPr/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𝑩𝒐𝒕𝒕𝒍𝒆𝒏𝒆𝒄𝒌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𝒅𝒊𝒎𝒆𝒏𝒔𝒊𝒐𝒏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𝒂𝒏𝒅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𝒔𝒕𝒂𝒃𝒊𝒍𝒊𝒕𝒚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56D7F783-77BD-1D1D-01B4-68FB56F929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94" y="1155593"/>
                <a:ext cx="4288332" cy="7397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2B55F5-EB36-901E-9BFE-7B3DF851BAEC}"/>
                  </a:ext>
                </a:extLst>
              </p:cNvPr>
              <p:cNvSpPr txBox="1"/>
              <p:nvPr/>
            </p:nvSpPr>
            <p:spPr>
              <a:xfrm>
                <a:off x="8656780" y="1099117"/>
                <a:ext cx="2205183" cy="5349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∈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2B55F5-EB36-901E-9BFE-7B3DF851B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780" y="1099117"/>
                <a:ext cx="2205183" cy="534955"/>
              </a:xfrm>
              <a:prstGeom prst="rect">
                <a:avLst/>
              </a:prstGeom>
              <a:blipFill>
                <a:blip r:embed="rId4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A82B737-ABAF-12B4-7C32-C103E883CC5B}"/>
              </a:ext>
            </a:extLst>
          </p:cNvPr>
          <p:cNvSpPr txBox="1">
            <a:spLocks/>
          </p:cNvSpPr>
          <p:nvPr/>
        </p:nvSpPr>
        <p:spPr>
          <a:xfrm>
            <a:off x="5797905" y="1125358"/>
            <a:ext cx="26779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MaxPooling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(axis = 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06AC9-6698-3808-40DB-7FA015D1A6A5}"/>
              </a:ext>
            </a:extLst>
          </p:cNvPr>
          <p:cNvSpPr txBox="1">
            <a:spLocks/>
          </p:cNvSpPr>
          <p:nvPr/>
        </p:nvSpPr>
        <p:spPr>
          <a:xfrm>
            <a:off x="463907" y="2231725"/>
            <a:ext cx="1700560" cy="399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Bottleneck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D3258B-6733-C48E-BC65-E05A00602B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4505" y="1895343"/>
            <a:ext cx="5861132" cy="1804246"/>
          </a:xfrm>
          <a:prstGeom prst="rect">
            <a:avLst/>
          </a:prstGeom>
        </p:spPr>
      </p:pic>
      <p:sp>
        <p:nvSpPr>
          <p:cNvPr id="9" name="Frame 8">
            <a:extLst>
              <a:ext uri="{FF2B5EF4-FFF2-40B4-BE49-F238E27FC236}">
                <a16:creationId xmlns:a16="http://schemas.microsoft.com/office/drawing/2014/main" id="{3A5492AF-19F0-0E13-BB53-A5B13FA335CA}"/>
              </a:ext>
            </a:extLst>
          </p:cNvPr>
          <p:cNvSpPr/>
          <p:nvPr/>
        </p:nvSpPr>
        <p:spPr>
          <a:xfrm>
            <a:off x="4524320" y="2631318"/>
            <a:ext cx="649564" cy="424398"/>
          </a:xfrm>
          <a:prstGeom prst="frame">
            <a:avLst>
              <a:gd name="adj1" fmla="val 441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DAC5D6-9A9F-0B00-AC87-76786E9C8CA5}"/>
                  </a:ext>
                </a:extLst>
              </p:cNvPr>
              <p:cNvSpPr txBox="1"/>
              <p:nvPr/>
            </p:nvSpPr>
            <p:spPr>
              <a:xfrm>
                <a:off x="8475844" y="1602743"/>
                <a:ext cx="2205183" cy="4056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: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𝜒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 </m:t>
                      </m:r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DAC5D6-9A9F-0B00-AC87-76786E9C8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5844" y="1602743"/>
                <a:ext cx="2205183" cy="405624"/>
              </a:xfrm>
              <a:prstGeom prst="rect">
                <a:avLst/>
              </a:prstGeom>
              <a:blipFill>
                <a:blip r:embed="rId6"/>
                <a:stretch>
                  <a:fillRect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05A967D-5940-F394-D17B-220797CE82AD}"/>
                  </a:ext>
                </a:extLst>
              </p:cNvPr>
              <p:cNvSpPr txBox="1"/>
              <p:nvPr/>
            </p:nvSpPr>
            <p:spPr>
              <a:xfrm>
                <a:off x="349733" y="4519688"/>
                <a:ext cx="6861295" cy="1246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2500" dirty="0">
                    <a:cs typeface="Times New Roman" panose="02020603050405020304" pitchFamily="18" charset="0"/>
                  </a:rPr>
                  <a:t>(a)</a:t>
                </a:r>
                <a14:m>
                  <m:oMath xmlns:m="http://schemas.openxmlformats.org/officeDocument/2006/math">
                    <m:r>
                      <a:rPr lang="en-US" sz="25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,∃</m:t>
                    </m:r>
                    <m:sSub>
                      <m:sSub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⊆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𝜒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d>
                      <m:d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</m:d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d>
                      <m:d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</m:d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𝑖𝑓</m:t>
                    </m:r>
                    <m:sSub>
                      <m:sSub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⊆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⊆</m:t>
                    </m:r>
                    <m:sSub>
                      <m:sSubPr>
                        <m:ctrlP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</m:oMath>
                </a14:m>
              </a:p>
              <a:p>
                <a:pPr/>
                <a:endParaRPr lang="en-US" altLang="ko-KR" sz="25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:r>
                  <a:rPr lang="en-US" altLang="ko-KR" sz="2500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(b)  </a:t>
                </a:r>
                <a14:m>
                  <m:oMath xmlns:m="http://schemas.openxmlformats.org/officeDocument/2006/math">
                    <m:r>
                      <a:rPr lang="en-US" altLang="ko-KR" sz="25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sSub>
                      <m:sSubPr>
                        <m:ctrlPr>
                          <a:rPr lang="en-US" altLang="ko-KR" sz="25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ko-KR" sz="25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25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ko-KR" sz="25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altLang="ko-KR" sz="25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altLang="ko-KR" sz="25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𝐾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05A967D-5940-F394-D17B-220797CE8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33" y="4519688"/>
                <a:ext cx="6861295" cy="1246495"/>
              </a:xfrm>
              <a:prstGeom prst="rect">
                <a:avLst/>
              </a:prstGeom>
              <a:blipFill>
                <a:blip r:embed="rId7"/>
                <a:stretch>
                  <a:fillRect l="-1479" t="-4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633FEFFC-5281-1E45-E5A3-F1FB342D73F0}"/>
              </a:ext>
            </a:extLst>
          </p:cNvPr>
          <p:cNvGrpSpPr/>
          <p:nvPr/>
        </p:nvGrpSpPr>
        <p:grpSpPr>
          <a:xfrm>
            <a:off x="8903736" y="3997036"/>
            <a:ext cx="2262810" cy="1970584"/>
            <a:chOff x="8959153" y="3239050"/>
            <a:chExt cx="2262810" cy="1970584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B54B002-8011-845F-D266-7430284885A4}"/>
                </a:ext>
              </a:extLst>
            </p:cNvPr>
            <p:cNvSpPr/>
            <p:nvPr/>
          </p:nvSpPr>
          <p:spPr>
            <a:xfrm>
              <a:off x="8959153" y="323905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E921FDF-91E7-8F63-AC72-FF35D64FEFC2}"/>
                </a:ext>
              </a:extLst>
            </p:cNvPr>
            <p:cNvSpPr/>
            <p:nvPr/>
          </p:nvSpPr>
          <p:spPr>
            <a:xfrm>
              <a:off x="9593423" y="323905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1450F8-7670-3C01-82CB-1FE8BE8D307B}"/>
                </a:ext>
              </a:extLst>
            </p:cNvPr>
            <p:cNvSpPr/>
            <p:nvPr/>
          </p:nvSpPr>
          <p:spPr>
            <a:xfrm>
              <a:off x="10227693" y="323905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339665E6-888E-A80E-BE6D-1DBF38BE76BA}"/>
                </a:ext>
              </a:extLst>
            </p:cNvPr>
            <p:cNvSpPr/>
            <p:nvPr/>
          </p:nvSpPr>
          <p:spPr>
            <a:xfrm>
              <a:off x="10861963" y="323905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ADC0F77-B05B-0079-04D1-6E62D7B63423}"/>
                </a:ext>
              </a:extLst>
            </p:cNvPr>
            <p:cNvSpPr/>
            <p:nvPr/>
          </p:nvSpPr>
          <p:spPr>
            <a:xfrm>
              <a:off x="8959153" y="3764254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CC69089-1693-7C16-7BBA-885DBA8C8B9E}"/>
                </a:ext>
              </a:extLst>
            </p:cNvPr>
            <p:cNvSpPr/>
            <p:nvPr/>
          </p:nvSpPr>
          <p:spPr>
            <a:xfrm>
              <a:off x="9593423" y="3764254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E109E96A-1C07-F561-3FC7-DB74C498F8D7}"/>
                </a:ext>
              </a:extLst>
            </p:cNvPr>
            <p:cNvSpPr/>
            <p:nvPr/>
          </p:nvSpPr>
          <p:spPr>
            <a:xfrm>
              <a:off x="10227693" y="3764254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901A8C1-AED4-C8D1-E3D5-F62DF897EB87}"/>
                </a:ext>
              </a:extLst>
            </p:cNvPr>
            <p:cNvSpPr/>
            <p:nvPr/>
          </p:nvSpPr>
          <p:spPr>
            <a:xfrm>
              <a:off x="10861963" y="3764254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3F34E7C-EB1D-8A7B-F296-6A84D8505E6F}"/>
                </a:ext>
              </a:extLst>
            </p:cNvPr>
            <p:cNvSpPr/>
            <p:nvPr/>
          </p:nvSpPr>
          <p:spPr>
            <a:xfrm>
              <a:off x="8959153" y="4324430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8B00632-576E-AF94-38A2-A78DD8B8D405}"/>
                </a:ext>
              </a:extLst>
            </p:cNvPr>
            <p:cNvSpPr/>
            <p:nvPr/>
          </p:nvSpPr>
          <p:spPr>
            <a:xfrm>
              <a:off x="9593423" y="4324430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E7DB8E0-6A0E-A1D6-C2A3-96FBAB01A0C7}"/>
                </a:ext>
              </a:extLst>
            </p:cNvPr>
            <p:cNvSpPr/>
            <p:nvPr/>
          </p:nvSpPr>
          <p:spPr>
            <a:xfrm>
              <a:off x="10227693" y="432443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2E52CF-8072-7F14-1AB5-249607D3AA45}"/>
                </a:ext>
              </a:extLst>
            </p:cNvPr>
            <p:cNvSpPr/>
            <p:nvPr/>
          </p:nvSpPr>
          <p:spPr>
            <a:xfrm>
              <a:off x="10861963" y="4324430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BAABDD3-CBC6-F74F-9A35-852F44D4AF1D}"/>
                </a:ext>
              </a:extLst>
            </p:cNvPr>
            <p:cNvSpPr/>
            <p:nvPr/>
          </p:nvSpPr>
          <p:spPr>
            <a:xfrm>
              <a:off x="8959153" y="4849634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2F041CC-E77D-26BF-46E4-4E1EE04AD62F}"/>
                </a:ext>
              </a:extLst>
            </p:cNvPr>
            <p:cNvSpPr/>
            <p:nvPr/>
          </p:nvSpPr>
          <p:spPr>
            <a:xfrm>
              <a:off x="9593423" y="4849634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82153C-058A-3AA2-D0F2-40FD18F33AEE}"/>
                </a:ext>
              </a:extLst>
            </p:cNvPr>
            <p:cNvSpPr/>
            <p:nvPr/>
          </p:nvSpPr>
          <p:spPr>
            <a:xfrm>
              <a:off x="10227693" y="4849634"/>
              <a:ext cx="360000" cy="36000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69E1167-BEE0-42CD-D5B0-4EE75AD19347}"/>
                </a:ext>
              </a:extLst>
            </p:cNvPr>
            <p:cNvSpPr/>
            <p:nvPr/>
          </p:nvSpPr>
          <p:spPr>
            <a:xfrm>
              <a:off x="10861963" y="4849634"/>
              <a:ext cx="360000" cy="3600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Frame 32">
            <a:extLst>
              <a:ext uri="{FF2B5EF4-FFF2-40B4-BE49-F238E27FC236}">
                <a16:creationId xmlns:a16="http://schemas.microsoft.com/office/drawing/2014/main" id="{83795B38-3D60-DCF9-D8D1-55D8A28CD968}"/>
              </a:ext>
            </a:extLst>
          </p:cNvPr>
          <p:cNvSpPr/>
          <p:nvPr/>
        </p:nvSpPr>
        <p:spPr>
          <a:xfrm>
            <a:off x="8783781" y="3810525"/>
            <a:ext cx="2549238" cy="1189289"/>
          </a:xfrm>
          <a:prstGeom prst="frame">
            <a:avLst>
              <a:gd name="adj1" fmla="val 147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Frame 33">
            <a:extLst>
              <a:ext uri="{FF2B5EF4-FFF2-40B4-BE49-F238E27FC236}">
                <a16:creationId xmlns:a16="http://schemas.microsoft.com/office/drawing/2014/main" id="{687C7943-F913-9EE8-7C79-C51D2CEF0F24}"/>
              </a:ext>
            </a:extLst>
          </p:cNvPr>
          <p:cNvSpPr/>
          <p:nvPr/>
        </p:nvSpPr>
        <p:spPr>
          <a:xfrm rot="5400000">
            <a:off x="9406407" y="4287596"/>
            <a:ext cx="2549238" cy="1189289"/>
          </a:xfrm>
          <a:prstGeom prst="frame">
            <a:avLst>
              <a:gd name="adj1" fmla="val 1479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1FFCA9E-09B9-3B6C-C11F-37FC122301AA}"/>
                  </a:ext>
                </a:extLst>
              </p:cNvPr>
              <p:cNvSpPr txBox="1"/>
              <p:nvPr/>
            </p:nvSpPr>
            <p:spPr>
              <a:xfrm>
                <a:off x="9100041" y="3530697"/>
                <a:ext cx="55109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</m:oMath>
                  </m:oMathPara>
                </a14:m>
                <a:endParaRPr lang="en-US" sz="25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1FFCA9E-09B9-3B6C-C11F-37FC12230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0041" y="3530697"/>
                <a:ext cx="551093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F3EC7A0-5275-3926-4631-F5B8F63ACDEB}"/>
                  </a:ext>
                </a:extLst>
              </p:cNvPr>
              <p:cNvSpPr txBox="1"/>
              <p:nvPr/>
            </p:nvSpPr>
            <p:spPr>
              <a:xfrm>
                <a:off x="11056447" y="5322584"/>
                <a:ext cx="55109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’</m:t>
                      </m:r>
                    </m:oMath>
                  </m:oMathPara>
                </a14:m>
                <a:endParaRPr lang="en-US" sz="25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F3EC7A0-5275-3926-4631-F5B8F63AC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6447" y="5322584"/>
                <a:ext cx="551093" cy="4770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F21D58-6C68-0AAE-F2F4-FC47847FEB39}"/>
                  </a:ext>
                </a:extLst>
              </p:cNvPr>
              <p:cNvSpPr txBox="1"/>
              <p:nvPr/>
            </p:nvSpPr>
            <p:spPr>
              <a:xfrm>
                <a:off x="8201747" y="6198161"/>
                <a:ext cx="2150529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5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5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e>
                      </m:d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5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5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5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  <m:r>
                            <a:rPr lang="en-US" sz="25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F21D58-6C68-0AAE-F2F4-FC47847FE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47" y="6198161"/>
                <a:ext cx="2150529" cy="477054"/>
              </a:xfrm>
              <a:prstGeom prst="rect">
                <a:avLst/>
              </a:prstGeom>
              <a:blipFill>
                <a:blip r:embed="rId10"/>
                <a:stretch>
                  <a:fillRect t="-13158" r="-585" b="-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A0241AF-5AB8-4F70-0BE1-C994B21F27B1}"/>
              </a:ext>
            </a:extLst>
          </p:cNvPr>
          <p:cNvSpPr txBox="1">
            <a:spLocks/>
          </p:cNvSpPr>
          <p:nvPr/>
        </p:nvSpPr>
        <p:spPr>
          <a:xfrm>
            <a:off x="10352276" y="6343371"/>
            <a:ext cx="118929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Stability</a:t>
            </a:r>
          </a:p>
        </p:txBody>
      </p:sp>
    </p:spTree>
    <p:extLst>
      <p:ext uri="{BB962C8B-B14F-4D97-AF65-F5344CB8AC3E}">
        <p14:creationId xmlns:p14="http://schemas.microsoft.com/office/powerpoint/2010/main" val="2169620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</TotalTime>
  <Words>493</Words>
  <Application>Microsoft Macintosh PowerPoint</Application>
  <PresentationFormat>Widescreen</PresentationFormat>
  <Paragraphs>106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Times New Roman</vt:lpstr>
      <vt:lpstr>Office Theme</vt:lpstr>
      <vt:lpstr>Problem Statement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E3676</dc:creator>
  <cp:lastModifiedBy>E3676</cp:lastModifiedBy>
  <cp:revision>9</cp:revision>
  <dcterms:created xsi:type="dcterms:W3CDTF">2025-11-17T01:42:32Z</dcterms:created>
  <dcterms:modified xsi:type="dcterms:W3CDTF">2025-11-21T23:25:54Z</dcterms:modified>
</cp:coreProperties>
</file>